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DEE07-7996-334F-99D3-83CA07999D9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CA800-0204-1C41-BE9A-3CF19B59A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3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PHASE-1  |  REVIEW-2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EnergyGen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AI-Powered Energy Optimization Platform</a:t>
            </a:r>
            <a:endParaRPr lang="en-US" sz="2200" dirty="0"/>
          </a:p>
        </p:txBody>
      </p:sp>
      <p:sp>
        <p:nvSpPr>
          <p:cNvPr id="5" name="teamPanel"/>
          <p:cNvSpPr/>
          <p:nvPr/>
        </p:nvSpPr>
        <p:spPr>
          <a:xfrm>
            <a:off x="5120640" y="502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12305A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49240" y="640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7" name="badge1"/>
          <p:cNvSpPr txBox="1"/>
          <p:nvPr/>
        </p:nvSpPr>
        <p:spPr>
          <a:xfrm>
            <a:off x="5349240" y="1042416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Osman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160923748042</a:t>
            </a:r>
            <a:endParaRPr lang="en-US" sz="1500" dirty="0"/>
          </a:p>
        </p:txBody>
      </p:sp>
      <p:sp>
        <p:nvSpPr>
          <p:cNvPr id="9" name="badge2"/>
          <p:cNvSpPr txBox="1"/>
          <p:nvPr/>
        </p:nvSpPr>
        <p:spPr>
          <a:xfrm>
            <a:off x="5349240" y="1700784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Amaan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160923748037</a:t>
            </a:r>
            <a:endParaRPr lang="en-US" sz="1500" dirty="0"/>
          </a:p>
        </p:txBody>
      </p:sp>
      <p:sp>
        <p:nvSpPr>
          <p:cNvPr id="11" name="badge3"/>
          <p:cNvSpPr txBox="1"/>
          <p:nvPr/>
        </p:nvSpPr>
        <p:spPr>
          <a:xfrm>
            <a:off x="5349240" y="2359152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322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Sadaam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160923748036</a:t>
            </a:r>
            <a:endParaRPr lang="en-US" sz="1500" dirty="0"/>
          </a:p>
        </p:txBody>
      </p:sp>
      <p:sp>
        <p:nvSpPr>
          <p:cNvPr id="13" name="badge4"/>
          <p:cNvSpPr txBox="1"/>
          <p:nvPr/>
        </p:nvSpPr>
        <p:spPr>
          <a:xfrm>
            <a:off x="5349240" y="301752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9809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Mohammed Sajid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160923748053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1"/>
          <p:cNvSpPr txBox="1"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84708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badge2"/>
          <p:cNvSpPr txBox="1"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470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57200" y="250545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badge3"/>
          <p:cNvSpPr txBox="1"/>
          <p:nvPr/>
        </p:nvSpPr>
        <p:spPr>
          <a:xfrm>
            <a:off x="594360" y="2596896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57200" y="316382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badge4"/>
          <p:cNvSpPr txBox="1"/>
          <p:nvPr/>
        </p:nvSpPr>
        <p:spPr>
          <a:xfrm>
            <a:off x="594360" y="3255264"/>
            <a:ext cx="365760" cy="36576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63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Disadvantages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4663440" y="11887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5"/>
          <p:cNvSpPr txBox="1"/>
          <p:nvPr/>
        </p:nvSpPr>
        <p:spPr>
          <a:xfrm>
            <a:off x="4800600" y="128016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1188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Advantages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4663440" y="184708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badge6"/>
          <p:cNvSpPr txBox="1"/>
          <p:nvPr/>
        </p:nvSpPr>
        <p:spPr>
          <a:xfrm>
            <a:off x="4800600" y="1938528"/>
            <a:ext cx="365760" cy="36576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18470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250545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badge7"/>
          <p:cNvSpPr txBox="1"/>
          <p:nvPr/>
        </p:nvSpPr>
        <p:spPr>
          <a:xfrm>
            <a:off x="4800600" y="2596896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4663440" y="316382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badge8"/>
          <p:cNvSpPr txBox="1"/>
          <p:nvPr/>
        </p:nvSpPr>
        <p:spPr>
          <a:xfrm>
            <a:off x="4800600" y="3255264"/>
            <a:ext cx="365760" cy="36576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163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abstractCard"/>
          <p:cNvSpPr/>
          <p:nvPr/>
        </p:nvSpPr>
        <p:spPr>
          <a:xfrm>
            <a:off x="457200" y="10972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EnergyGen analyzes historical and real-time consumption, predicts future demand with machine learning, and uses Generative AI to turn analytics into clear recommendations and automated sustainability reports.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461772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badge1"/>
          <p:cNvSpPr txBox="1"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190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574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patterns, peak periods, wastage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67512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badge2"/>
          <p:cNvSpPr txBox="1"/>
          <p:nvPr/>
        </p:nvSpPr>
        <p:spPr>
          <a:xfrm>
            <a:off x="6812280" y="1234440"/>
            <a:ext cx="384048" cy="384048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7190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0574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demand forecasting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1772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badge3"/>
          <p:cNvSpPr txBox="1"/>
          <p:nvPr/>
        </p:nvSpPr>
        <p:spPr>
          <a:xfrm>
            <a:off x="4754880" y="297180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456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energy advisor in plain language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667512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badge4"/>
          <p:cNvSpPr txBox="1"/>
          <p:nvPr/>
        </p:nvSpPr>
        <p:spPr>
          <a:xfrm>
            <a:off x="6812280" y="2971800"/>
            <a:ext cx="384048" cy="384048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456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scheduling and solar/wind use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1"/>
          <p:cNvSpPr txBox="1"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97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 is tracked through meters, bills and manual reports, so wastage is noticed only after the fact.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badge2"/>
          <p:cNvSpPr txBox="1"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240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dashboards show usage but cannot forecast demand, explain abnormal use or personalize savings advice.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badge3"/>
          <p:cNvSpPr txBox="1"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83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383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uniting monitoring, ML demand prediction, a GenAI advisor, renewable optimization and auto-generated reports.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106424" cy="27432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1"/>
          <p:cNvSpPr txBox="1"/>
          <p:nvPr/>
        </p:nvSpPr>
        <p:spPr>
          <a:xfrm>
            <a:off x="758952" y="12344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87452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Analyze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514600"/>
            <a:ext cx="996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patterns, peaks, abnormal usage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1636776" y="1097280"/>
            <a:ext cx="1106424" cy="27432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badge2"/>
          <p:cNvSpPr txBox="1"/>
          <p:nvPr/>
        </p:nvSpPr>
        <p:spPr>
          <a:xfrm>
            <a:off x="1938528" y="1234440"/>
            <a:ext cx="502920" cy="50292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87452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514600"/>
            <a:ext cx="996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forecasts from history and seasonality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2816352" y="1097280"/>
            <a:ext cx="1106424" cy="27432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badge3"/>
          <p:cNvSpPr txBox="1"/>
          <p:nvPr/>
        </p:nvSpPr>
        <p:spPr>
          <a:xfrm>
            <a:off x="3118104" y="12344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71216" y="187452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71216" y="2514600"/>
            <a:ext cx="996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insights and explanations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3995928" y="1097280"/>
            <a:ext cx="1106424" cy="27432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4"/>
          <p:cNvSpPr txBox="1"/>
          <p:nvPr/>
        </p:nvSpPr>
        <p:spPr>
          <a:xfrm>
            <a:off x="4297680" y="12344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50792" y="187452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Energy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50792" y="2514600"/>
            <a:ext cx="996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scheduling and peak reduction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5175504" y="1097280"/>
            <a:ext cx="1106424" cy="27432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badge5"/>
          <p:cNvSpPr txBox="1"/>
          <p:nvPr/>
        </p:nvSpPr>
        <p:spPr>
          <a:xfrm>
            <a:off x="5477256" y="1234440"/>
            <a:ext cx="502920" cy="502920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187452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Renewables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2514600"/>
            <a:ext cx="996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solar and wind to demand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6355080" y="1097280"/>
            <a:ext cx="1106424" cy="27432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badge6"/>
          <p:cNvSpPr txBox="1"/>
          <p:nvPr/>
        </p:nvSpPr>
        <p:spPr>
          <a:xfrm>
            <a:off x="6656832" y="1234440"/>
            <a:ext cx="502920" cy="50292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9944" y="187452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9944" y="2514600"/>
            <a:ext cx="996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sustainability reports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7534656" y="1097280"/>
            <a:ext cx="1106424" cy="27432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badge7"/>
          <p:cNvSpPr txBox="1"/>
          <p:nvPr/>
        </p:nvSpPr>
        <p:spPr>
          <a:xfrm>
            <a:off x="7836408" y="12344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1874520"/>
            <a:ext cx="996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Improve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2514600"/>
            <a:ext cx="996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alerts, performance tracking</a:t>
            </a:r>
            <a:endParaRPr lang="en-US" sz="1100" dirty="0"/>
          </a:p>
        </p:txBody>
      </p:sp>
      <p:sp>
        <p:nvSpPr>
          <p:cNvPr id="31" name="outputsBa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insights  |  Recommendations  |  Renewable utilization  |  Reports  |  Alerts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its Disadvantages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metering and periodic billing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prepared consumption reports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dashboards with no forecasting or contextual advice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7" name="badge1"/>
          <p:cNvSpPr txBox="1"/>
          <p:nvPr/>
        </p:nvSpPr>
        <p:spPr>
          <a:xfrm>
            <a:off x="4023360" y="158191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508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usage analysis</a:t>
            </a:r>
            <a:endParaRPr lang="en-US" sz="1200" dirty="0"/>
          </a:p>
        </p:txBody>
      </p:sp>
      <p:sp>
        <p:nvSpPr>
          <p:cNvPr id="9" name="badge2"/>
          <p:cNvSpPr txBox="1"/>
          <p:nvPr/>
        </p:nvSpPr>
        <p:spPr>
          <a:xfrm>
            <a:off x="4023360" y="218541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112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manual reports</a:t>
            </a:r>
            <a:endParaRPr lang="en-US" sz="1200" dirty="0"/>
          </a:p>
        </p:txBody>
      </p:sp>
      <p:sp>
        <p:nvSpPr>
          <p:cNvPr id="11" name="badge3"/>
          <p:cNvSpPr txBox="1"/>
          <p:nvPr/>
        </p:nvSpPr>
        <p:spPr>
          <a:xfrm>
            <a:off x="4023360" y="278892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accurate AI demand forecasting</a:t>
            </a:r>
            <a:endParaRPr lang="en-US" sz="1200" dirty="0"/>
          </a:p>
        </p:txBody>
      </p:sp>
      <p:sp>
        <p:nvSpPr>
          <p:cNvPr id="13" name="badge4"/>
          <p:cNvSpPr txBox="1"/>
          <p:nvPr/>
        </p:nvSpPr>
        <p:spPr>
          <a:xfrm>
            <a:off x="4023360" y="339242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33192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wastage and anomalies missed</a:t>
            </a:r>
            <a:endParaRPr lang="en-US" sz="1200" dirty="0"/>
          </a:p>
        </p:txBody>
      </p:sp>
      <p:sp>
        <p:nvSpPr>
          <p:cNvPr id="15" name="badge5"/>
          <p:cNvSpPr txBox="1"/>
          <p:nvPr/>
        </p:nvSpPr>
        <p:spPr>
          <a:xfrm>
            <a:off x="4023360" y="399592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39227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personalized saving advice</a:t>
            </a:r>
            <a:endParaRPr lang="en-US" sz="1200" dirty="0"/>
          </a:p>
        </p:txBody>
      </p:sp>
      <p:sp>
        <p:nvSpPr>
          <p:cNvPr id="17" name="badge6"/>
          <p:cNvSpPr txBox="1"/>
          <p:nvPr/>
        </p:nvSpPr>
        <p:spPr>
          <a:xfrm>
            <a:off x="6400800" y="158191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508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demand-renewable coordination</a:t>
            </a:r>
            <a:endParaRPr lang="en-US" sz="1200" dirty="0"/>
          </a:p>
        </p:txBody>
      </p:sp>
      <p:sp>
        <p:nvSpPr>
          <p:cNvPr id="19" name="badge7"/>
          <p:cNvSpPr txBox="1"/>
          <p:nvPr/>
        </p:nvSpPr>
        <p:spPr>
          <a:xfrm>
            <a:off x="6400800" y="218541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2112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peak-load management</a:t>
            </a:r>
            <a:endParaRPr lang="en-US" sz="1200" dirty="0"/>
          </a:p>
        </p:txBody>
      </p:sp>
      <p:sp>
        <p:nvSpPr>
          <p:cNvPr id="21" name="badge8"/>
          <p:cNvSpPr txBox="1"/>
          <p:nvPr/>
        </p:nvSpPr>
        <p:spPr>
          <a:xfrm>
            <a:off x="6400800" y="278892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non-technical users to read</a:t>
            </a:r>
            <a:endParaRPr lang="en-US" sz="1200" dirty="0"/>
          </a:p>
        </p:txBody>
      </p:sp>
      <p:sp>
        <p:nvSpPr>
          <p:cNvPr id="23" name="badge9"/>
          <p:cNvSpPr txBox="1"/>
          <p:nvPr/>
        </p:nvSpPr>
        <p:spPr>
          <a:xfrm>
            <a:off x="6400800" y="339242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33192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sustainability reporting</a:t>
            </a:r>
            <a:endParaRPr lang="en-US" sz="1200" dirty="0"/>
          </a:p>
        </p:txBody>
      </p:sp>
      <p:sp>
        <p:nvSpPr>
          <p:cNvPr id="25" name="badge10"/>
          <p:cNvSpPr txBox="1"/>
          <p:nvPr/>
        </p:nvSpPr>
        <p:spPr>
          <a:xfrm>
            <a:off x="6400800" y="399592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39227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support for cutting costs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&amp; its Advantages</a:t>
            </a:r>
            <a:endParaRPr lang="en-US" sz="3000" dirty="0"/>
          </a:p>
        </p:txBody>
      </p:sp>
      <p:sp>
        <p:nvSpPr>
          <p:cNvPr id="3" name="proposedCard"/>
          <p:cNvSpPr/>
          <p:nvPr/>
        </p:nvSpPr>
        <p:spPr>
          <a:xfrm>
            <a:off x="457200" y="109728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platform: monitoring, ML prediction, GenAI advisor, renewable optimization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forecasts, alerts and load scheduling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of users, data, AI operations and reports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7" name="badge1"/>
          <p:cNvSpPr txBox="1"/>
          <p:nvPr/>
        </p:nvSpPr>
        <p:spPr>
          <a:xfrm>
            <a:off x="4023360" y="1581912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508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intelligent monitoring</a:t>
            </a:r>
            <a:endParaRPr lang="en-US" sz="1200" dirty="0"/>
          </a:p>
        </p:txBody>
      </p:sp>
      <p:sp>
        <p:nvSpPr>
          <p:cNvPr id="9" name="badge2"/>
          <p:cNvSpPr txBox="1"/>
          <p:nvPr/>
        </p:nvSpPr>
        <p:spPr>
          <a:xfrm>
            <a:off x="4023360" y="2185416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112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prediction</a:t>
            </a:r>
            <a:endParaRPr lang="en-US" sz="1200" dirty="0"/>
          </a:p>
        </p:txBody>
      </p:sp>
      <p:sp>
        <p:nvSpPr>
          <p:cNvPr id="11" name="badge3"/>
          <p:cNvSpPr txBox="1"/>
          <p:nvPr/>
        </p:nvSpPr>
        <p:spPr>
          <a:xfrm>
            <a:off x="4023360" y="2788920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anomalies and peak periods</a:t>
            </a:r>
            <a:endParaRPr lang="en-US" sz="1200" dirty="0"/>
          </a:p>
        </p:txBody>
      </p:sp>
      <p:sp>
        <p:nvSpPr>
          <p:cNvPr id="13" name="badge4"/>
          <p:cNvSpPr txBox="1"/>
          <p:nvPr/>
        </p:nvSpPr>
        <p:spPr>
          <a:xfrm>
            <a:off x="4023360" y="3392424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33192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saving recommendations</a:t>
            </a:r>
            <a:endParaRPr lang="en-US" sz="1200" dirty="0"/>
          </a:p>
        </p:txBody>
      </p:sp>
      <p:sp>
        <p:nvSpPr>
          <p:cNvPr id="15" name="badge5"/>
          <p:cNvSpPr txBox="1"/>
          <p:nvPr/>
        </p:nvSpPr>
        <p:spPr>
          <a:xfrm>
            <a:off x="4023360" y="3995928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39227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load scheduling</a:t>
            </a:r>
            <a:endParaRPr lang="en-US" sz="1200" dirty="0"/>
          </a:p>
        </p:txBody>
      </p:sp>
      <p:sp>
        <p:nvSpPr>
          <p:cNvPr id="17" name="badge6"/>
          <p:cNvSpPr txBox="1"/>
          <p:nvPr/>
        </p:nvSpPr>
        <p:spPr>
          <a:xfrm>
            <a:off x="6400800" y="1581912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508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solar and wind utilization</a:t>
            </a:r>
            <a:endParaRPr lang="en-US" sz="1200" dirty="0"/>
          </a:p>
        </p:txBody>
      </p:sp>
      <p:sp>
        <p:nvSpPr>
          <p:cNvPr id="19" name="badge7"/>
          <p:cNvSpPr txBox="1"/>
          <p:nvPr/>
        </p:nvSpPr>
        <p:spPr>
          <a:xfrm>
            <a:off x="6400800" y="2185416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2112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analysis</a:t>
            </a:r>
            <a:endParaRPr lang="en-US" sz="1200" dirty="0"/>
          </a:p>
        </p:txBody>
      </p:sp>
      <p:sp>
        <p:nvSpPr>
          <p:cNvPr id="21" name="badge8"/>
          <p:cNvSpPr txBox="1"/>
          <p:nvPr/>
        </p:nvSpPr>
        <p:spPr>
          <a:xfrm>
            <a:off x="6400800" y="2788920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sustainability reports</a:t>
            </a:r>
            <a:endParaRPr lang="en-US" sz="1200" dirty="0"/>
          </a:p>
        </p:txBody>
      </p:sp>
      <p:sp>
        <p:nvSpPr>
          <p:cNvPr id="23" name="badge9"/>
          <p:cNvSpPr txBox="1"/>
          <p:nvPr/>
        </p:nvSpPr>
        <p:spPr>
          <a:xfrm>
            <a:off x="6400800" y="3392424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33192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 and KPIs</a:t>
            </a:r>
            <a:endParaRPr lang="en-US" sz="1200" dirty="0"/>
          </a:p>
        </p:txBody>
      </p:sp>
      <p:sp>
        <p:nvSpPr>
          <p:cNvPr id="25" name="badge10"/>
          <p:cNvSpPr txBox="1"/>
          <p:nvPr/>
        </p:nvSpPr>
        <p:spPr>
          <a:xfrm>
            <a:off x="6400800" y="3995928"/>
            <a:ext cx="347472" cy="347472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39227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costs, long-term sustainability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EnergyGen high-level software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6583680" cy="438912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6995160" y="777240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086600" y="822960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facility data, energy data and renewable data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6995160" y="1856232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86600" y="1901952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modules, from monitoring to dashboards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995160" y="2935224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86600" y="2980944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recommendations, reports and alerts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995160" y="4014216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086600" y="4059936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database, model improvement, admin control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02920" y="105156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1"/>
          <p:cNvSpPr txBox="1"/>
          <p:nvPr/>
        </p:nvSpPr>
        <p:spPr>
          <a:xfrm>
            <a:off x="612648" y="1161288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6002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148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access, dashboards, recommendations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2148840" y="105156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badge2"/>
          <p:cNvSpPr txBox="1"/>
          <p:nvPr/>
        </p:nvSpPr>
        <p:spPr>
          <a:xfrm>
            <a:off x="2258568" y="1161288"/>
            <a:ext cx="365760" cy="36576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16002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148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data, AI and reports</a:t>
            </a:r>
            <a:endParaRPr lang="en-US" sz="1050" dirty="0"/>
          </a:p>
        </p:txBody>
      </p:sp>
      <p:sp>
        <p:nvSpPr>
          <p:cNvPr id="11" name="card"/>
          <p:cNvSpPr/>
          <p:nvPr/>
        </p:nvSpPr>
        <p:spPr>
          <a:xfrm>
            <a:off x="3794760" y="105156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badge3"/>
          <p:cNvSpPr txBox="1"/>
          <p:nvPr/>
        </p:nvSpPr>
        <p:spPr>
          <a:xfrm>
            <a:off x="3904488" y="1161288"/>
            <a:ext cx="365760" cy="365760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04488" y="16002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Energy Profile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2148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and energy source preferences</a:t>
            </a:r>
            <a:endParaRPr lang="en-US" sz="1050" dirty="0"/>
          </a:p>
        </p:txBody>
      </p:sp>
      <p:sp>
        <p:nvSpPr>
          <p:cNvPr id="15" name="card"/>
          <p:cNvSpPr/>
          <p:nvPr/>
        </p:nvSpPr>
        <p:spPr>
          <a:xfrm>
            <a:off x="5440680" y="105156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4"/>
          <p:cNvSpPr txBox="1"/>
          <p:nvPr/>
        </p:nvSpPr>
        <p:spPr>
          <a:xfrm>
            <a:off x="5550408" y="1161288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50408" y="16002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Monitoring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50408" y="2148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peaks, wastage detection</a:t>
            </a:r>
            <a:endParaRPr lang="en-US" sz="1050" dirty="0"/>
          </a:p>
        </p:txBody>
      </p:sp>
      <p:sp>
        <p:nvSpPr>
          <p:cNvPr id="19" name="card"/>
          <p:cNvSpPr/>
          <p:nvPr/>
        </p:nvSpPr>
        <p:spPr>
          <a:xfrm>
            <a:off x="7086600" y="105156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badge5"/>
          <p:cNvSpPr txBox="1"/>
          <p:nvPr/>
        </p:nvSpPr>
        <p:spPr>
          <a:xfrm>
            <a:off x="7196328" y="1161288"/>
            <a:ext cx="365760" cy="365760"/>
          </a:xfrm>
          <a:prstGeom prst="ellipse">
            <a:avLst/>
          </a:prstGeom>
          <a:solidFill>
            <a:srgbClr val="123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96328" y="16002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2148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forecasts of future demand</a:t>
            </a:r>
            <a:endParaRPr lang="en-US" sz="1050" dirty="0"/>
          </a:p>
        </p:txBody>
      </p:sp>
      <p:sp>
        <p:nvSpPr>
          <p:cNvPr id="23" name="card"/>
          <p:cNvSpPr/>
          <p:nvPr/>
        </p:nvSpPr>
        <p:spPr>
          <a:xfrm>
            <a:off x="502920" y="278892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badge6"/>
          <p:cNvSpPr txBox="1"/>
          <p:nvPr/>
        </p:nvSpPr>
        <p:spPr>
          <a:xfrm>
            <a:off x="612648" y="2898648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" y="33375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Energy Advisor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" y="3886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insights and tips</a:t>
            </a:r>
            <a:endParaRPr lang="en-US" sz="1050" dirty="0"/>
          </a:p>
        </p:txBody>
      </p:sp>
      <p:sp>
        <p:nvSpPr>
          <p:cNvPr id="27" name="card"/>
          <p:cNvSpPr/>
          <p:nvPr/>
        </p:nvSpPr>
        <p:spPr>
          <a:xfrm>
            <a:off x="2148840" y="278892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badge7"/>
          <p:cNvSpPr txBox="1"/>
          <p:nvPr/>
        </p:nvSpPr>
        <p:spPr>
          <a:xfrm>
            <a:off x="2258568" y="2898648"/>
            <a:ext cx="365760" cy="365760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258568" y="33375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Recommendation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258568" y="3886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scheduling, peak reduction</a:t>
            </a:r>
            <a:endParaRPr lang="en-US" sz="1050" dirty="0"/>
          </a:p>
        </p:txBody>
      </p:sp>
      <p:sp>
        <p:nvSpPr>
          <p:cNvPr id="31" name="card"/>
          <p:cNvSpPr/>
          <p:nvPr/>
        </p:nvSpPr>
        <p:spPr>
          <a:xfrm>
            <a:off x="3794760" y="278892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badge8"/>
          <p:cNvSpPr txBox="1"/>
          <p:nvPr/>
        </p:nvSpPr>
        <p:spPr>
          <a:xfrm>
            <a:off x="3904488" y="2898648"/>
            <a:ext cx="365760" cy="365760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904488" y="33375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Optimization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904488" y="3886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solar and wind use</a:t>
            </a:r>
            <a:endParaRPr lang="en-US" sz="1050" dirty="0"/>
          </a:p>
        </p:txBody>
      </p:sp>
      <p:sp>
        <p:nvSpPr>
          <p:cNvPr id="35" name="card"/>
          <p:cNvSpPr/>
          <p:nvPr/>
        </p:nvSpPr>
        <p:spPr>
          <a:xfrm>
            <a:off x="5440680" y="278892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badge9"/>
          <p:cNvSpPr txBox="1"/>
          <p:nvPr/>
        </p:nvSpPr>
        <p:spPr>
          <a:xfrm>
            <a:off x="5550408" y="2898648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550408" y="33375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Reports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550408" y="3886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performance reports</a:t>
            </a:r>
            <a:endParaRPr lang="en-US" sz="1050" dirty="0"/>
          </a:p>
        </p:txBody>
      </p:sp>
      <p:sp>
        <p:nvSpPr>
          <p:cNvPr id="39" name="card"/>
          <p:cNvSpPr/>
          <p:nvPr/>
        </p:nvSpPr>
        <p:spPr>
          <a:xfrm>
            <a:off x="7086600" y="2788920"/>
            <a:ext cx="1554480" cy="1600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badge10"/>
          <p:cNvSpPr txBox="1"/>
          <p:nvPr/>
        </p:nvSpPr>
        <p:spPr>
          <a:xfrm>
            <a:off x="7196328" y="2898648"/>
            <a:ext cx="365760" cy="365760"/>
          </a:xfrm>
          <a:prstGeom prst="ellipse">
            <a:avLst/>
          </a:prstGeom>
          <a:solidFill>
            <a:srgbClr val="123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196328" y="33375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196328" y="38862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KPIs, abnormal-usage alerts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25780" y="1051560"/>
            <a:ext cx="26060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1"/>
          <p:cNvSpPr txBox="1"/>
          <p:nvPr/>
        </p:nvSpPr>
        <p:spPr>
          <a:xfrm>
            <a:off x="662940" y="1188720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65860" y="1188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2940" y="169164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normalize and aggregate consumption data into daily, weekly and monthly patterns.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68980" y="1051560"/>
            <a:ext cx="26060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badge2"/>
          <p:cNvSpPr txBox="1"/>
          <p:nvPr/>
        </p:nvSpPr>
        <p:spPr>
          <a:xfrm>
            <a:off x="3406140" y="1188720"/>
            <a:ext cx="384048" cy="384048"/>
          </a:xfrm>
          <a:prstGeom prst="ellipse">
            <a:avLst/>
          </a:prstGeom>
          <a:solidFill>
            <a:srgbClr val="1AA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09060" y="1188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169164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trained on historical usage, time and seasonal features to predict future demand.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012180" y="1051560"/>
            <a:ext cx="26060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badge3"/>
          <p:cNvSpPr txBox="1"/>
          <p:nvPr/>
        </p:nvSpPr>
        <p:spPr>
          <a:xfrm>
            <a:off x="6149340" y="11887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52260" y="1188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49340" y="169164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consumption that deviates from learned patterns to expose wastage and abnormal use.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25780" y="2788920"/>
            <a:ext cx="26060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4"/>
          <p:cNvSpPr txBox="1"/>
          <p:nvPr/>
        </p:nvSpPr>
        <p:spPr>
          <a:xfrm>
            <a:off x="662940" y="292608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6586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Ranking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" y="342900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load-scheduling and peak-reduction actions by energy and cost savings.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3268980" y="2788920"/>
            <a:ext cx="26060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badge5"/>
          <p:cNvSpPr txBox="1"/>
          <p:nvPr/>
        </p:nvSpPr>
        <p:spPr>
          <a:xfrm>
            <a:off x="3406140" y="2926080"/>
            <a:ext cx="384048" cy="384048"/>
          </a:xfrm>
          <a:prstGeom prst="ellipse">
            <a:avLst/>
          </a:prstGeom>
          <a:solidFill>
            <a:srgbClr val="2E9E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0906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Matching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06140" y="342900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predicted demand with solar and wind availability to prioritize renewables.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6012180" y="2788920"/>
            <a:ext cx="26060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badge6"/>
          <p:cNvSpPr txBox="1"/>
          <p:nvPr/>
        </p:nvSpPr>
        <p:spPr>
          <a:xfrm>
            <a:off x="6149340" y="2926080"/>
            <a:ext cx="384048" cy="384048"/>
          </a:xfrm>
          <a:prstGeom prst="ellipse">
            <a:avLst/>
          </a:prstGeom>
          <a:solidFill>
            <a:srgbClr val="12305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5226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Advisor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49340" y="342900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analytics into natural-language insights and structured sustainability reports.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EnergyGen - Review-2</dc:title>
  <dc:subject>PptxGenJS Presentation</dc:subject>
  <dc:creator>PptxGenJS</dc:creator>
  <cp:lastModifiedBy>mohammedanasm96@gmail.com</cp:lastModifiedBy>
  <cp:revision>2</cp:revision>
  <dcterms:created xsi:type="dcterms:W3CDTF">2026-10-28T05:45:38Z</dcterms:created>
  <dcterms:modified xsi:type="dcterms:W3CDTF">2026-10-28T05:53:40Z</dcterms:modified>
</cp:coreProperties>
</file>